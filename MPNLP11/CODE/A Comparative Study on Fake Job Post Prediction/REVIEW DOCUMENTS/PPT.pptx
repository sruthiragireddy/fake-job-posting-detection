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6" r:id="rId5"/>
    <p:sldId id="259" r:id="rId6"/>
    <p:sldId id="267" r:id="rId7"/>
    <p:sldId id="260" r:id="rId8"/>
    <p:sldId id="268" r:id="rId9"/>
    <p:sldId id="269" r:id="rId10"/>
    <p:sldId id="261" r:id="rId11"/>
    <p:sldId id="270" r:id="rId12"/>
    <p:sldId id="262" r:id="rId13"/>
    <p:sldId id="263" r:id="rId14"/>
    <p:sldId id="264" r:id="rId15"/>
    <p:sldId id="265"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1D8BD707-D9CF-40AE-B4C6-C98DA3205C09}" type="datetimeFigureOut">
              <a:rPr lang="en-US" smtClean="0"/>
              <a:pPr/>
              <a:t>1/1/2022</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1D8BD707-D9CF-40AE-B4C6-C98DA3205C09}" type="datetimeFigureOut">
              <a:rPr lang="en-US" smtClean="0"/>
              <a:pPr/>
              <a:t>1/1/2022</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1D8BD707-D9CF-40AE-B4C6-C98DA3205C09}" type="datetimeFigureOut">
              <a:rPr lang="en-US" smtClean="0"/>
              <a:pPr/>
              <a:t>1/1/2022</a:t>
            </a:fld>
            <a:endParaRPr lang="en-US"/>
          </a:p>
        </p:txBody>
      </p:sp>
      <p:sp>
        <p:nvSpPr>
          <p:cNvPr id="10" name="Slide Number Placeholder 9"/>
          <p:cNvSpPr>
            <a:spLocks noGrp="1"/>
          </p:cNvSpPr>
          <p:nvPr>
            <p:ph type="sldNum" sz="quarter" idx="16"/>
          </p:nvPr>
        </p:nvSpPr>
        <p:spPr/>
        <p:txBody>
          <a:bodyPr rtlCol="0"/>
          <a:lstStyle/>
          <a:p>
            <a:fld id="{B6F15528-21DE-4FAA-801E-634DDDAF4B2B}"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1D8BD707-D9CF-40AE-B4C6-C98DA3205C09}" type="datetimeFigureOut">
              <a:rPr lang="en-US" smtClean="0"/>
              <a:pPr/>
              <a:t>1/1/2022</a:t>
            </a:fld>
            <a:endParaRPr lang="en-US"/>
          </a:p>
        </p:txBody>
      </p:sp>
      <p:sp>
        <p:nvSpPr>
          <p:cNvPr id="12" name="Slide Number Placeholder 11"/>
          <p:cNvSpPr>
            <a:spLocks noGrp="1"/>
          </p:cNvSpPr>
          <p:nvPr>
            <p:ph type="sldNum" sz="quarter" idx="16"/>
          </p:nvPr>
        </p:nvSpPr>
        <p:spPr/>
        <p:txBody>
          <a:bodyPr rtlCol="0"/>
          <a:lstStyle/>
          <a:p>
            <a:fld id="{B6F15528-21DE-4FAA-801E-634DDDAF4B2B}"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1/1/2022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1/1/2022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1D8BD707-D9CF-40AE-B4C6-C98DA3205C09}" type="datetimeFigureOut">
              <a:rPr lang="en-US" smtClean="0"/>
              <a:pPr/>
              <a:t>1/1/2022</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1D8BD707-D9CF-40AE-B4C6-C98DA3205C09}" type="datetimeFigureOut">
              <a:rPr lang="en-US" smtClean="0"/>
              <a:pPr/>
              <a:t>1/1/2022</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1D8BD707-D9CF-40AE-B4C6-C98DA3205C09}" type="datetimeFigureOut">
              <a:rPr lang="en-US" smtClean="0"/>
              <a:pPr/>
              <a:t>1/1/2022</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lgn="ctr"/>
            <a:r>
              <a:rPr lang="en-US" b="1" dirty="0"/>
              <a:t>A Comparative Study on Fake Job Post Prediction Using Different Data mining Techniques</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ABSTRACT</a:t>
            </a:r>
            <a:endParaRPr lang="en-US" dirty="0"/>
          </a:p>
        </p:txBody>
      </p:sp>
      <p:sp>
        <p:nvSpPr>
          <p:cNvPr id="3" name="Content Placeholder 2"/>
          <p:cNvSpPr>
            <a:spLocks noGrp="1"/>
          </p:cNvSpPr>
          <p:nvPr>
            <p:ph sz="quarter" idx="1"/>
          </p:nvPr>
        </p:nvSpPr>
        <p:spPr/>
        <p:txBody>
          <a:bodyPr>
            <a:normAutofit/>
          </a:bodyPr>
          <a:lstStyle/>
          <a:p>
            <a:pPr algn="just"/>
            <a:r>
              <a:rPr lang="en-US" dirty="0"/>
              <a:t>In recent years, due to advancement in modern technology and social communication, advertising new job posts has become very common issue in the present world. So, fake job posting prediction task is going to be a great concern for all. Like many other classification tasks, fake job posing prediction leaves a lot of challenges to face. This paper proposed to use </a:t>
            </a:r>
            <a:r>
              <a:rPr lang="en-US" dirty="0"/>
              <a:t>Random Forest Classifier predict </a:t>
            </a:r>
            <a:r>
              <a:rPr lang="en-US" dirty="0"/>
              <a:t>a job post if it is real or fraudulent. </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EXISTING SYSTEM</a:t>
            </a:r>
            <a:endParaRPr lang="en-US" dirty="0"/>
          </a:p>
        </p:txBody>
      </p:sp>
      <p:sp>
        <p:nvSpPr>
          <p:cNvPr id="3" name="Content Placeholder 2"/>
          <p:cNvSpPr>
            <a:spLocks noGrp="1"/>
          </p:cNvSpPr>
          <p:nvPr>
            <p:ph sz="quarter" idx="1"/>
          </p:nvPr>
        </p:nvSpPr>
        <p:spPr/>
        <p:txBody>
          <a:bodyPr>
            <a:normAutofit lnSpcReduction="10000"/>
          </a:bodyPr>
          <a:lstStyle/>
          <a:p>
            <a:pPr algn="just"/>
            <a:r>
              <a:rPr lang="en-US" dirty="0" err="1"/>
              <a:t>Vidros</a:t>
            </a:r>
            <a:r>
              <a:rPr lang="en-US" dirty="0"/>
              <a:t> et al. identified job scammers as fake online job advertiser. They found statistics about many real and renowned companies and enterprises who produced fake job advertisements or vacancy posts with ill-motive. They experimented on EMSCAD dataset using several classification algorithms like naive </a:t>
            </a:r>
            <a:r>
              <a:rPr lang="en-US" dirty="0" err="1"/>
              <a:t>bayes</a:t>
            </a:r>
            <a:r>
              <a:rPr lang="en-US" dirty="0"/>
              <a:t> classifier, random forest classifier, Zero R, One R etc. Random Forest Classifier showed the best performance on the dataset with 89.5% classification accuracy. They found logistic regression performing very poor on the dataset. </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lnSpcReduction="10000"/>
          </a:bodyPr>
          <a:lstStyle/>
          <a:p>
            <a:pPr lvl="0" algn="just"/>
            <a:r>
              <a:rPr lang="en-US" dirty="0" err="1"/>
              <a:t>Alghamdi</a:t>
            </a:r>
            <a:r>
              <a:rPr lang="en-US" dirty="0"/>
              <a:t> et al. proposed a model to detect fraud exposure in an online recruitment system. They experimented on EMSCAD dataset using machine learning algorithm. They worked on this dataset in three steps- data pre-processing, feature selection and fraud detection using classifier. In the preprocessing step, they removed noise and html tags from the data so that the general text pattern remained preserved. They applied feature selection technique to reduce the number of attributes effectively and efficiently.</a:t>
            </a:r>
            <a:endParaRPr lang="en-IN" dirty="0"/>
          </a:p>
          <a:p>
            <a:pPr algn="just"/>
            <a:endParaRPr lang="en-IN" dirty="0"/>
          </a:p>
        </p:txBody>
      </p:sp>
    </p:spTree>
    <p:extLst>
      <p:ext uri="{BB962C8B-B14F-4D97-AF65-F5344CB8AC3E}">
        <p14:creationId xmlns:p14="http://schemas.microsoft.com/office/powerpoint/2010/main" val="356468137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DISADVANTAGES OF EXISTING SYSTEM</a:t>
            </a:r>
            <a:endParaRPr lang="en-US" dirty="0"/>
          </a:p>
        </p:txBody>
      </p:sp>
      <p:sp>
        <p:nvSpPr>
          <p:cNvPr id="3" name="Content Placeholder 2"/>
          <p:cNvSpPr>
            <a:spLocks noGrp="1"/>
          </p:cNvSpPr>
          <p:nvPr>
            <p:ph sz="quarter" idx="1"/>
          </p:nvPr>
        </p:nvSpPr>
        <p:spPr/>
        <p:txBody>
          <a:bodyPr>
            <a:normAutofit lnSpcReduction="10000"/>
          </a:bodyPr>
          <a:lstStyle/>
          <a:p>
            <a:pPr lvl="0" algn="just"/>
            <a:r>
              <a:rPr lang="en-US" dirty="0"/>
              <a:t>Online job advertisements which are fake and mostly willing to steal personal and professional information of job seekers instead of giving right jobs to them is known as job scam. Sometimes fraudulent people try to gather money illegally from job seekers. A recent survey by </a:t>
            </a:r>
            <a:r>
              <a:rPr lang="en-US" dirty="0" err="1"/>
              <a:t>ActionFraud</a:t>
            </a:r>
            <a:r>
              <a:rPr lang="en-US" dirty="0"/>
              <a:t> from UK has shown that more than 67% people are at great risk who look for jobs through online advertisements but unaware of fake job posts or job scam.</a:t>
            </a:r>
            <a:endParaRPr lang="en-IN" dirty="0"/>
          </a:p>
          <a:p>
            <a:pPr algn="just"/>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pPr lvl="0" algn="just"/>
            <a:r>
              <a:rPr lang="en-US" dirty="0"/>
              <a:t>Existing system results have less accuracy.</a:t>
            </a:r>
            <a:endParaRPr lang="en-IN" dirty="0"/>
          </a:p>
          <a:p>
            <a:pPr lvl="0" algn="just"/>
            <a:r>
              <a:rPr lang="en-US" dirty="0"/>
              <a:t>More time taking process.</a:t>
            </a:r>
            <a:endParaRPr lang="en-IN" dirty="0"/>
          </a:p>
          <a:p>
            <a:pPr lvl="0" algn="just"/>
            <a:r>
              <a:rPr lang="en-US" dirty="0"/>
              <a:t>Complexity in implementing the system.</a:t>
            </a:r>
            <a:endParaRPr lang="en-IN" dirty="0"/>
          </a:p>
          <a:p>
            <a:pPr lvl="0" algn="just"/>
            <a:r>
              <a:rPr lang="en-US" dirty="0"/>
              <a:t>Existing system considers more features, which leads for increase in time and cost.</a:t>
            </a:r>
            <a:endParaRPr lang="en-IN" dirty="0"/>
          </a:p>
          <a:p>
            <a:pPr algn="just"/>
            <a:endParaRPr lang="en-IN" dirty="0"/>
          </a:p>
        </p:txBody>
      </p:sp>
    </p:spTree>
    <p:extLst>
      <p:ext uri="{BB962C8B-B14F-4D97-AF65-F5344CB8AC3E}">
        <p14:creationId xmlns:p14="http://schemas.microsoft.com/office/powerpoint/2010/main" val="345342002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PROPOSED SYSTEM</a:t>
            </a:r>
            <a:endParaRPr lang="en-US" dirty="0"/>
          </a:p>
        </p:txBody>
      </p:sp>
      <p:sp>
        <p:nvSpPr>
          <p:cNvPr id="3" name="Content Placeholder 2"/>
          <p:cNvSpPr>
            <a:spLocks noGrp="1"/>
          </p:cNvSpPr>
          <p:nvPr>
            <p:ph sz="quarter" idx="1"/>
          </p:nvPr>
        </p:nvSpPr>
        <p:spPr/>
        <p:txBody>
          <a:bodyPr/>
          <a:lstStyle/>
          <a:p>
            <a:pPr lvl="0" algn="just"/>
            <a:r>
              <a:rPr lang="en-US" dirty="0"/>
              <a:t>The target of this study is to detect whether a job post is fraudulent or not. Identifying and eliminating these fake job advertisements will help the jobseekers to concentrate on legitimate job posts only. In this context, a dataset from </a:t>
            </a:r>
            <a:r>
              <a:rPr lang="en-US" dirty="0" err="1"/>
              <a:t>Kaggle</a:t>
            </a:r>
            <a:r>
              <a:rPr lang="en-US" dirty="0"/>
              <a:t> is employed that provides information regarding a job that may or may not be suspicious.</a:t>
            </a:r>
            <a:endParaRPr lang="en-IN" dirty="0"/>
          </a:p>
          <a:p>
            <a:pPr algn="just"/>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pPr lvl="0" algn="just"/>
            <a:r>
              <a:rPr lang="en-US" dirty="0"/>
              <a:t>This dataset contains 17,880 number of job posts. This dataset is used in the proposed methods for testing the overall performance of the approach. For better understanding of the target as a baseline, a multistep procedure is followed for obtaining a balanced dataset. Before fitting this data to any classifier, some pre-processing techniques are applied to this dataset.</a:t>
            </a:r>
            <a:endParaRPr lang="en-IN" dirty="0"/>
          </a:p>
          <a:p>
            <a:pPr algn="just"/>
            <a:endParaRPr lang="en-IN" dirty="0"/>
          </a:p>
        </p:txBody>
      </p:sp>
    </p:spTree>
    <p:extLst>
      <p:ext uri="{BB962C8B-B14F-4D97-AF65-F5344CB8AC3E}">
        <p14:creationId xmlns:p14="http://schemas.microsoft.com/office/powerpoint/2010/main" val="17842580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pPr lvl="0" algn="just"/>
            <a:r>
              <a:rPr lang="en-US" dirty="0"/>
              <a:t>Random Forest Classifier is applied for classifying job post as fake. The performance measure metrics such as Accuracy, Recall, Precision, and Confusion matrix are used for evaluating the prediction for proposed classifier. </a:t>
            </a:r>
            <a:endParaRPr lang="en-IN" dirty="0"/>
          </a:p>
          <a:p>
            <a:pPr algn="just"/>
            <a:endParaRPr lang="en-IN" dirty="0"/>
          </a:p>
        </p:txBody>
      </p:sp>
    </p:spTree>
    <p:extLst>
      <p:ext uri="{BB962C8B-B14F-4D97-AF65-F5344CB8AC3E}">
        <p14:creationId xmlns:p14="http://schemas.microsoft.com/office/powerpoint/2010/main" val="249136910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ADVANTAGES OF PROPOSED SYSTEM</a:t>
            </a:r>
            <a:endParaRPr lang="en-US" dirty="0"/>
          </a:p>
        </p:txBody>
      </p:sp>
      <p:sp>
        <p:nvSpPr>
          <p:cNvPr id="3" name="Content Placeholder 2"/>
          <p:cNvSpPr>
            <a:spLocks noGrp="1"/>
          </p:cNvSpPr>
          <p:nvPr>
            <p:ph sz="quarter" idx="1"/>
          </p:nvPr>
        </p:nvSpPr>
        <p:spPr/>
        <p:txBody>
          <a:bodyPr/>
          <a:lstStyle/>
          <a:p>
            <a:pPr lvl="0" algn="just"/>
            <a:r>
              <a:rPr lang="en-US" dirty="0"/>
              <a:t>This approach reduces the number of trainable attribute effectively with less processing time.</a:t>
            </a:r>
            <a:endParaRPr lang="en-IN" dirty="0"/>
          </a:p>
          <a:p>
            <a:pPr lvl="0" algn="just"/>
            <a:r>
              <a:rPr lang="en-US" dirty="0"/>
              <a:t>We have achieved approximately 98% classification accuracy (highest) for Random Forest classifier. </a:t>
            </a:r>
            <a:endParaRPr lang="en-IN" dirty="0"/>
          </a:p>
          <a:p>
            <a:pPr algn="just"/>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pPr lvl="0" algn="just"/>
            <a:r>
              <a:rPr lang="en-US" dirty="0"/>
              <a:t>We have analyzed performance analysis parameters also to check if the model works well at both false positive and false negative samples.</a:t>
            </a:r>
            <a:endParaRPr lang="en-IN" dirty="0"/>
          </a:p>
          <a:p>
            <a:pPr lvl="0" algn="just"/>
            <a:r>
              <a:rPr lang="en-US" dirty="0"/>
              <a:t>Employment scam detection will guide job-seekers to get only legitimate offers from companies. For tackling employment scam detection, Random Forest Classifier has proved the best prediction results.</a:t>
            </a:r>
            <a:endParaRPr lang="en-IN" dirty="0"/>
          </a:p>
          <a:p>
            <a:pPr algn="just"/>
            <a:endParaRPr lang="en-IN" dirty="0"/>
          </a:p>
        </p:txBody>
      </p:sp>
    </p:spTree>
    <p:extLst>
      <p:ext uri="{BB962C8B-B14F-4D97-AF65-F5344CB8AC3E}">
        <p14:creationId xmlns:p14="http://schemas.microsoft.com/office/powerpoint/2010/main" val="69363194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ARCHITECTURE</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8225" y="2057400"/>
            <a:ext cx="7067550"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HARDWARE REQUIREMENTS</a:t>
            </a:r>
            <a:endParaRPr lang="en-US" dirty="0"/>
          </a:p>
        </p:txBody>
      </p:sp>
      <p:sp>
        <p:nvSpPr>
          <p:cNvPr id="3" name="Content Placeholder 2"/>
          <p:cNvSpPr>
            <a:spLocks noGrp="1"/>
          </p:cNvSpPr>
          <p:nvPr>
            <p:ph sz="quarter" idx="1"/>
          </p:nvPr>
        </p:nvSpPr>
        <p:spPr/>
        <p:txBody>
          <a:bodyPr/>
          <a:lstStyle/>
          <a:p>
            <a:pPr lvl="0"/>
            <a:r>
              <a:rPr lang="en-GB" dirty="0"/>
              <a:t>System			: 	Pentium i3 Processor.</a:t>
            </a:r>
            <a:endParaRPr lang="en-IN" dirty="0"/>
          </a:p>
          <a:p>
            <a:pPr lvl="0"/>
            <a:r>
              <a:rPr lang="en-GB" dirty="0"/>
              <a:t>Hard Disk 		</a:t>
            </a:r>
            <a:r>
              <a:rPr lang="en-GB" dirty="0" smtClean="0"/>
              <a:t>: </a:t>
            </a:r>
            <a:r>
              <a:rPr lang="en-GB" dirty="0"/>
              <a:t>	500 GB.</a:t>
            </a:r>
            <a:endParaRPr lang="en-IN" dirty="0"/>
          </a:p>
          <a:p>
            <a:pPr lvl="0"/>
            <a:r>
              <a:rPr lang="en-GB" dirty="0"/>
              <a:t>Monitor			: 	15’’ LED</a:t>
            </a:r>
            <a:endParaRPr lang="en-IN" dirty="0"/>
          </a:p>
          <a:p>
            <a:pPr lvl="0"/>
            <a:r>
              <a:rPr lang="en-GB" dirty="0"/>
              <a:t>Input Devices		: 	Keyboard, Mouse</a:t>
            </a:r>
            <a:endParaRPr lang="en-IN" dirty="0"/>
          </a:p>
          <a:p>
            <a:pPr lvl="0"/>
            <a:r>
              <a:rPr lang="en-GB" dirty="0"/>
              <a:t>Ram			</a:t>
            </a:r>
            <a:r>
              <a:rPr lang="en-GB" dirty="0" smtClean="0"/>
              <a:t>:</a:t>
            </a:r>
            <a:r>
              <a:rPr lang="en-GB" dirty="0"/>
              <a:t>	4 GB</a:t>
            </a:r>
            <a:endParaRPr lang="en-IN" dirty="0"/>
          </a:p>
          <a:p>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REQUIREMENTS</a:t>
            </a:r>
            <a:endParaRPr lang="en-US" dirty="0"/>
          </a:p>
        </p:txBody>
      </p:sp>
      <p:sp>
        <p:nvSpPr>
          <p:cNvPr id="3" name="Content Placeholder 2"/>
          <p:cNvSpPr>
            <a:spLocks noGrp="1"/>
          </p:cNvSpPr>
          <p:nvPr>
            <p:ph sz="quarter" idx="1"/>
          </p:nvPr>
        </p:nvSpPr>
        <p:spPr/>
        <p:txBody>
          <a:bodyPr/>
          <a:lstStyle/>
          <a:p>
            <a:pPr lvl="0"/>
            <a:r>
              <a:rPr lang="en-US" dirty="0"/>
              <a:t>Operating system 		: 	Windows 10.</a:t>
            </a:r>
            <a:endParaRPr lang="en-IN" dirty="0"/>
          </a:p>
          <a:p>
            <a:pPr lvl="0"/>
            <a:r>
              <a:rPr lang="en-US" dirty="0"/>
              <a:t>Coding Language		:	Python</a:t>
            </a:r>
            <a:endParaRPr lang="en-IN" dirty="0"/>
          </a:p>
          <a:p>
            <a:pPr lvl="0"/>
            <a:r>
              <a:rPr lang="en-US" dirty="0"/>
              <a:t>Web Framework		:	Flask</a:t>
            </a:r>
            <a:endParaRPr lang="en-IN"/>
          </a:p>
          <a:p>
            <a:pPr marL="0" indent="0">
              <a:buNone/>
            </a:pP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a:t>
            </a:r>
            <a:endParaRPr lang="en-US" dirty="0"/>
          </a:p>
        </p:txBody>
      </p:sp>
      <p:sp>
        <p:nvSpPr>
          <p:cNvPr id="3" name="Content Placeholder 2"/>
          <p:cNvSpPr>
            <a:spLocks noGrp="1"/>
          </p:cNvSpPr>
          <p:nvPr>
            <p:ph sz="quarter" idx="1"/>
          </p:nvPr>
        </p:nvSpPr>
        <p:spPr/>
        <p:txBody>
          <a:bodyPr/>
          <a:lstStyle/>
          <a:p>
            <a:pPr algn="just"/>
            <a:r>
              <a:rPr lang="en-US" dirty="0"/>
              <a:t>Sultana </a:t>
            </a:r>
            <a:r>
              <a:rPr lang="en-US" dirty="0" err="1"/>
              <a:t>Umme</a:t>
            </a:r>
            <a:r>
              <a:rPr lang="en-US" dirty="0"/>
              <a:t> </a:t>
            </a:r>
            <a:r>
              <a:rPr lang="en-US" dirty="0" err="1"/>
              <a:t>Habiba</a:t>
            </a:r>
            <a:r>
              <a:rPr lang="en-US" dirty="0"/>
              <a:t>, Md. </a:t>
            </a:r>
            <a:r>
              <a:rPr lang="en-US" dirty="0" err="1"/>
              <a:t>Khairul</a:t>
            </a:r>
            <a:r>
              <a:rPr lang="en-US" dirty="0"/>
              <a:t> Islam, </a:t>
            </a:r>
            <a:r>
              <a:rPr lang="en-US" dirty="0" err="1"/>
              <a:t>Farzana</a:t>
            </a:r>
            <a:r>
              <a:rPr lang="en-US" dirty="0"/>
              <a:t> </a:t>
            </a:r>
            <a:r>
              <a:rPr lang="en-US" dirty="0" err="1"/>
              <a:t>Tasnim</a:t>
            </a:r>
            <a:r>
              <a:rPr lang="en-US" dirty="0"/>
              <a:t>, “A Comparative Study on Fake Job Post Prediction Using Different Data mining Techniques”, IEEE Conference, 2021.</a:t>
            </a:r>
            <a:endParaRPr lang="en-IN" dirty="0"/>
          </a:p>
          <a:p>
            <a:pPr marL="0" indent="0" algn="just">
              <a:buNone/>
            </a:pPr>
            <a:endParaRPr lang="en-US"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7</TotalTime>
  <Words>677</Words>
  <Application>Microsoft Office PowerPoint</Application>
  <PresentationFormat>On-screen Show (4:3)</PresentationFormat>
  <Paragraphs>34</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Median</vt:lpstr>
      <vt:lpstr>A Comparative Study on Fake Job Post Prediction Using Different Data mining Techniques</vt:lpstr>
      <vt:lpstr>ABSTRACT</vt:lpstr>
      <vt:lpstr>EXISTING SYSTEM</vt:lpstr>
      <vt:lpstr>PowerPoint Presentation</vt:lpstr>
      <vt:lpstr>DISADVANTAGES OF EXISTING SYSTEM</vt:lpstr>
      <vt:lpstr>PowerPoint Presentation</vt:lpstr>
      <vt:lpstr>PROPOSED SYSTEM</vt:lpstr>
      <vt:lpstr>PowerPoint Presentation</vt:lpstr>
      <vt:lpstr>PowerPoint Presentation</vt:lpstr>
      <vt:lpstr>ADVANTAGES OF PROPOSED SYSTEM</vt:lpstr>
      <vt:lpstr>PowerPoint Presentation</vt:lpstr>
      <vt:lpstr>SYSTEM ARCHITECTURE</vt:lpstr>
      <vt:lpstr>HARDWARE REQUIREMENTS</vt:lpstr>
      <vt:lpstr>SOFTWARE REQUIREMENTS</vt:lpstr>
      <vt:lpstr>REFERENCE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JP1</cp:lastModifiedBy>
  <cp:revision>22</cp:revision>
  <dcterms:created xsi:type="dcterms:W3CDTF">2006-08-16T00:00:00Z</dcterms:created>
  <dcterms:modified xsi:type="dcterms:W3CDTF">2022-01-01T16:21:31Z</dcterms:modified>
</cp:coreProperties>
</file>